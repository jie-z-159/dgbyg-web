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E0C98133-374B-4F26-A535-20AB26D3ABF7}">
          <p14:sldIdLst>
            <p14:sldId id="256"/>
            <p14:sldId id="257"/>
            <p14:sldId id="258"/>
            <p14:sldId id="260"/>
            <p14:sldId id="259"/>
            <p14:sldId id="261"/>
            <p14:sldId id="262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>
        <p:scale>
          <a:sx n="125" d="100"/>
          <a:sy n="125" d="100"/>
        </p:scale>
        <p:origin x="182" y="-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help.html  figure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31550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/>
          <p:cNvGrpSpPr/>
          <p:nvPr/>
        </p:nvGrpSpPr>
        <p:grpSpPr>
          <a:xfrm>
            <a:off x="-88053" y="2190790"/>
            <a:ext cx="12112412" cy="2352917"/>
            <a:chOff x="104986" y="2662672"/>
            <a:chExt cx="12112412" cy="2352917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 rotWithShape="1">
            <a:blip r:embed="rId2"/>
            <a:srcRect l="4308" t="39048" r="3333" b="2850"/>
            <a:stretch/>
          </p:blipFill>
          <p:spPr>
            <a:xfrm>
              <a:off x="3411759" y="2662672"/>
              <a:ext cx="6736696" cy="2352917"/>
            </a:xfrm>
            <a:prstGeom prst="rect">
              <a:avLst/>
            </a:prstGeom>
          </p:spPr>
        </p:pic>
        <p:grpSp>
          <p:nvGrpSpPr>
            <p:cNvPr id="18" name="组合 17"/>
            <p:cNvGrpSpPr/>
            <p:nvPr/>
          </p:nvGrpSpPr>
          <p:grpSpPr>
            <a:xfrm>
              <a:off x="305877" y="2811608"/>
              <a:ext cx="3169920" cy="487680"/>
              <a:chOff x="-564496" y="2999586"/>
              <a:chExt cx="3169920" cy="487680"/>
            </a:xfrm>
          </p:grpSpPr>
          <p:cxnSp>
            <p:nvCxnSpPr>
              <p:cNvPr id="11" name="直接箭头连接符 10"/>
              <p:cNvCxnSpPr>
                <a:stCxn id="9" idx="3"/>
              </p:cNvCxnSpPr>
              <p:nvPr/>
            </p:nvCxnSpPr>
            <p:spPr>
              <a:xfrm>
                <a:off x="1508144" y="3243426"/>
                <a:ext cx="1097280" cy="0"/>
              </a:xfrm>
              <a:prstGeom prst="straightConnector1">
                <a:avLst/>
              </a:prstGeom>
              <a:noFill/>
              <a:ln w="38100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矩形 8"/>
              <p:cNvSpPr/>
              <p:nvPr/>
            </p:nvSpPr>
            <p:spPr>
              <a:xfrm>
                <a:off x="-564496" y="2999586"/>
                <a:ext cx="2072640" cy="4876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 smtClean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Search box</a:t>
                </a:r>
              </a:p>
              <a:p>
                <a:pPr algn="ctr"/>
                <a:r>
                  <a:rPr lang="zh-CN" altLang="en-US" sz="1600" dirty="0" smtClean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（</a:t>
                </a:r>
                <a:r>
                  <a:rPr lang="en-US" altLang="zh-CN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e.g. </a:t>
                </a:r>
                <a:r>
                  <a:rPr lang="en-US" altLang="zh-CN" sz="1600" dirty="0" smtClean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10fthf5glu_l)</a:t>
                </a:r>
                <a:endParaRPr lang="zh-CN" alt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2" name="组合 21"/>
            <p:cNvGrpSpPr/>
            <p:nvPr/>
          </p:nvGrpSpPr>
          <p:grpSpPr>
            <a:xfrm>
              <a:off x="104986" y="3595291"/>
              <a:ext cx="3423919" cy="487680"/>
              <a:chOff x="-765387" y="2938626"/>
              <a:chExt cx="3423919" cy="487680"/>
            </a:xfrm>
          </p:grpSpPr>
          <p:cxnSp>
            <p:nvCxnSpPr>
              <p:cNvPr id="23" name="直接箭头连接符 22"/>
              <p:cNvCxnSpPr>
                <a:stCxn id="24" idx="3"/>
              </p:cNvCxnSpPr>
              <p:nvPr/>
            </p:nvCxnSpPr>
            <p:spPr>
              <a:xfrm>
                <a:off x="1949024" y="3182466"/>
                <a:ext cx="709508" cy="0"/>
              </a:xfrm>
              <a:prstGeom prst="straightConnector1">
                <a:avLst/>
              </a:prstGeom>
              <a:noFill/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矩形 23"/>
              <p:cNvSpPr/>
              <p:nvPr/>
            </p:nvSpPr>
            <p:spPr>
              <a:xfrm>
                <a:off x="-765387" y="2938626"/>
                <a:ext cx="2714411" cy="4876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 smtClean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choose model</a:t>
                </a:r>
              </a:p>
              <a:p>
                <a:pPr algn="ctr"/>
                <a:r>
                  <a:rPr lang="zh-CN" altLang="en-US" sz="1600" dirty="0" smtClean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（</a:t>
                </a:r>
                <a:r>
                  <a:rPr lang="en-US" altLang="zh-CN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e.g. Human-GEM_1.19.0)</a:t>
                </a:r>
                <a:endParaRPr lang="zh-CN" alt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9302865" y="4398415"/>
              <a:ext cx="2914533" cy="487680"/>
              <a:chOff x="-1419321" y="2930313"/>
              <a:chExt cx="2914533" cy="487680"/>
            </a:xfrm>
          </p:grpSpPr>
          <p:cxnSp>
            <p:nvCxnSpPr>
              <p:cNvPr id="28" name="直接箭头连接符 27"/>
              <p:cNvCxnSpPr/>
              <p:nvPr/>
            </p:nvCxnSpPr>
            <p:spPr>
              <a:xfrm flipH="1">
                <a:off x="-1419321" y="3174153"/>
                <a:ext cx="1375294" cy="0"/>
              </a:xfrm>
              <a:prstGeom prst="straightConnector1">
                <a:avLst/>
              </a:prstGeom>
              <a:noFill/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矩形 28"/>
              <p:cNvSpPr/>
              <p:nvPr/>
            </p:nvSpPr>
            <p:spPr>
              <a:xfrm>
                <a:off x="-674257" y="2930313"/>
                <a:ext cx="2169469" cy="4876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 smtClean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        Load examples </a:t>
                </a:r>
                <a:endParaRPr lang="zh-CN" alt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6620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727" y="2482282"/>
            <a:ext cx="8438782" cy="1893600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-182802" y="2594799"/>
            <a:ext cx="4307762" cy="487680"/>
            <a:chOff x="-339641" y="2511751"/>
            <a:chExt cx="2799583" cy="487680"/>
          </a:xfrm>
        </p:grpSpPr>
        <p:sp>
          <p:nvSpPr>
            <p:cNvPr id="6" name="矩形 5"/>
            <p:cNvSpPr/>
            <p:nvPr/>
          </p:nvSpPr>
          <p:spPr>
            <a:xfrm>
              <a:off x="-339641" y="2511751"/>
              <a:ext cx="1354546" cy="4876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Search </a:t>
              </a:r>
              <a:r>
                <a:rPr lang="en-US" altLang="zh-CN" sz="16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results summary box</a:t>
              </a:r>
              <a:endParaRPr lang="zh-CN" alt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" name="直接箭头连接符 4"/>
            <p:cNvCxnSpPr/>
            <p:nvPr/>
          </p:nvCxnSpPr>
          <p:spPr>
            <a:xfrm>
              <a:off x="835054" y="2759443"/>
              <a:ext cx="1624888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/>
        </p:nvGrpSpPr>
        <p:grpSpPr>
          <a:xfrm>
            <a:off x="9911619" y="3791682"/>
            <a:ext cx="2266833" cy="487680"/>
            <a:chOff x="9911619" y="3344642"/>
            <a:chExt cx="2280381" cy="487680"/>
          </a:xfrm>
        </p:grpSpPr>
        <p:cxnSp>
          <p:nvCxnSpPr>
            <p:cNvPr id="16" name="直接箭头连接符 15"/>
            <p:cNvCxnSpPr/>
            <p:nvPr/>
          </p:nvCxnSpPr>
          <p:spPr>
            <a:xfrm flipH="1">
              <a:off x="9911619" y="3588482"/>
              <a:ext cx="481984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矩形 16"/>
            <p:cNvSpPr/>
            <p:nvPr/>
          </p:nvSpPr>
          <p:spPr>
            <a:xfrm>
              <a:off x="10119360" y="3344642"/>
              <a:ext cx="2072640" cy="4876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View Δ</a:t>
              </a:r>
              <a:r>
                <a:rPr lang="en-US" altLang="zh-CN" sz="1600" i="1" baseline="-250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altLang="zh-CN" sz="16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  <a:r>
                <a:rPr lang="en-US" altLang="zh-CN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° values </a:t>
              </a:r>
              <a:endParaRPr lang="zh-CN" alt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98447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3157" y="116044"/>
            <a:ext cx="5692140" cy="6639461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91441" y="3775899"/>
            <a:ext cx="3333748" cy="487680"/>
            <a:chOff x="-191126" y="2511751"/>
            <a:chExt cx="2166579" cy="487680"/>
          </a:xfrm>
        </p:grpSpPr>
        <p:sp>
          <p:nvSpPr>
            <p:cNvPr id="6" name="矩形 5"/>
            <p:cNvSpPr/>
            <p:nvPr/>
          </p:nvSpPr>
          <p:spPr>
            <a:xfrm>
              <a:off x="-191126" y="2511751"/>
              <a:ext cx="1354546" cy="4876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definition of four class reactions</a:t>
              </a:r>
              <a:endParaRPr lang="zh-CN" alt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" name="直接箭头连接符 6"/>
            <p:cNvCxnSpPr/>
            <p:nvPr/>
          </p:nvCxnSpPr>
          <p:spPr>
            <a:xfrm>
              <a:off x="1086537" y="2755591"/>
              <a:ext cx="888916" cy="3852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组合 10"/>
          <p:cNvGrpSpPr/>
          <p:nvPr/>
        </p:nvGrpSpPr>
        <p:grpSpPr>
          <a:xfrm>
            <a:off x="91441" y="4894629"/>
            <a:ext cx="3333748" cy="487680"/>
            <a:chOff x="-191126" y="2511751"/>
            <a:chExt cx="2166579" cy="487680"/>
          </a:xfrm>
        </p:grpSpPr>
        <p:sp>
          <p:nvSpPr>
            <p:cNvPr id="12" name="矩形 11"/>
            <p:cNvSpPr/>
            <p:nvPr/>
          </p:nvSpPr>
          <p:spPr>
            <a:xfrm>
              <a:off x="-191126" y="2511751"/>
              <a:ext cx="1354546" cy="4876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</a:t>
              </a:r>
              <a:r>
                <a:rPr lang="en-US" altLang="zh-CN" sz="16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compartment conditions use for prediction</a:t>
              </a:r>
              <a:endParaRPr lang="zh-CN" alt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3" name="直接箭头连接符 12"/>
            <p:cNvCxnSpPr/>
            <p:nvPr/>
          </p:nvCxnSpPr>
          <p:spPr>
            <a:xfrm>
              <a:off x="1086537" y="2755591"/>
              <a:ext cx="888916" cy="3852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合 13"/>
          <p:cNvGrpSpPr/>
          <p:nvPr/>
        </p:nvGrpSpPr>
        <p:grpSpPr>
          <a:xfrm>
            <a:off x="91442" y="1827770"/>
            <a:ext cx="3333747" cy="487680"/>
            <a:chOff x="-209695" y="2518856"/>
            <a:chExt cx="2166578" cy="487680"/>
          </a:xfrm>
        </p:grpSpPr>
        <p:sp>
          <p:nvSpPr>
            <p:cNvPr id="15" name="矩形 14"/>
            <p:cNvSpPr/>
            <p:nvPr/>
          </p:nvSpPr>
          <p:spPr>
            <a:xfrm>
              <a:off x="-209695" y="2518856"/>
              <a:ext cx="1515367" cy="4876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Reaction c</a:t>
              </a:r>
              <a:r>
                <a:rPr lang="en-US" altLang="zh-CN" sz="16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lassification overview </a:t>
              </a:r>
              <a:r>
                <a:rPr lang="en-US" altLang="zh-CN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chart</a:t>
              </a:r>
              <a:endParaRPr lang="zh-CN" alt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6" name="直接箭头连接符 15"/>
            <p:cNvCxnSpPr>
              <a:stCxn id="15" idx="3"/>
            </p:cNvCxnSpPr>
            <p:nvPr/>
          </p:nvCxnSpPr>
          <p:spPr>
            <a:xfrm>
              <a:off x="1305672" y="2762696"/>
              <a:ext cx="651211" cy="3852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组合 16"/>
          <p:cNvGrpSpPr/>
          <p:nvPr/>
        </p:nvGrpSpPr>
        <p:grpSpPr>
          <a:xfrm>
            <a:off x="8601075" y="1827770"/>
            <a:ext cx="3364420" cy="487680"/>
            <a:chOff x="-1023093" y="2511751"/>
            <a:chExt cx="2186513" cy="487680"/>
          </a:xfrm>
        </p:grpSpPr>
        <p:sp>
          <p:nvSpPr>
            <p:cNvPr id="18" name="矩形 17"/>
            <p:cNvSpPr/>
            <p:nvPr/>
          </p:nvSpPr>
          <p:spPr>
            <a:xfrm>
              <a:off x="-191126" y="2511751"/>
              <a:ext cx="1354546" cy="4876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l-GR" altLang="zh-CN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Δ</a:t>
              </a:r>
              <a:r>
                <a:rPr lang="en-US" altLang="zh-CN" sz="1600" i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altLang="zh-CN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G° </a:t>
              </a:r>
              <a:r>
                <a:rPr lang="en-US" altLang="zh-CN" sz="16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distribution analysis </a:t>
              </a:r>
              <a:r>
                <a:rPr lang="en-US" altLang="zh-CN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chart</a:t>
              </a:r>
              <a:endParaRPr lang="zh-CN" alt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9" name="直接箭头连接符 18"/>
            <p:cNvCxnSpPr/>
            <p:nvPr/>
          </p:nvCxnSpPr>
          <p:spPr>
            <a:xfrm rot="10800000">
              <a:off x="-1023093" y="2753665"/>
              <a:ext cx="888916" cy="3852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组合 19"/>
          <p:cNvGrpSpPr/>
          <p:nvPr/>
        </p:nvGrpSpPr>
        <p:grpSpPr>
          <a:xfrm>
            <a:off x="5088840" y="163615"/>
            <a:ext cx="7143457" cy="487680"/>
            <a:chOff x="-1023093" y="2566096"/>
            <a:chExt cx="2292760" cy="487680"/>
          </a:xfrm>
        </p:grpSpPr>
        <p:sp>
          <p:nvSpPr>
            <p:cNvPr id="21" name="矩形 20"/>
            <p:cNvSpPr/>
            <p:nvPr/>
          </p:nvSpPr>
          <p:spPr>
            <a:xfrm>
              <a:off x="169474" y="2566096"/>
              <a:ext cx="1100193" cy="4876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Download results </a:t>
              </a:r>
              <a:r>
                <a:rPr lang="en-US" altLang="zh-CN" sz="16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for the GEM </a:t>
              </a:r>
              <a:r>
                <a:rPr lang="en-US" altLang="zh-CN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model</a:t>
              </a:r>
              <a:endParaRPr lang="zh-CN" alt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2" name="直接箭头连接符 21"/>
            <p:cNvCxnSpPr/>
            <p:nvPr/>
          </p:nvCxnSpPr>
          <p:spPr>
            <a:xfrm flipH="1" flipV="1">
              <a:off x="-1023093" y="2753665"/>
              <a:ext cx="1265421" cy="508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09391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1807" y="2456431"/>
            <a:ext cx="8230145" cy="1465200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411479" y="2541459"/>
            <a:ext cx="2160270" cy="487680"/>
            <a:chOff x="155526" y="2184091"/>
            <a:chExt cx="1403944" cy="487680"/>
          </a:xfrm>
        </p:grpSpPr>
        <p:sp>
          <p:nvSpPr>
            <p:cNvPr id="4" name="矩形 3"/>
            <p:cNvSpPr/>
            <p:nvPr/>
          </p:nvSpPr>
          <p:spPr>
            <a:xfrm>
              <a:off x="155526" y="2184091"/>
              <a:ext cx="869232" cy="4876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Reaction </a:t>
              </a:r>
              <a:r>
                <a:rPr lang="en-US" altLang="zh-CN" sz="16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BiGG ID</a:t>
              </a:r>
              <a:endParaRPr lang="zh-CN" alt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" name="直接箭头连接符 4"/>
            <p:cNvCxnSpPr/>
            <p:nvPr/>
          </p:nvCxnSpPr>
          <p:spPr>
            <a:xfrm>
              <a:off x="987493" y="2427931"/>
              <a:ext cx="571977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组合 6"/>
          <p:cNvGrpSpPr/>
          <p:nvPr/>
        </p:nvGrpSpPr>
        <p:grpSpPr>
          <a:xfrm>
            <a:off x="411479" y="3189031"/>
            <a:ext cx="2160270" cy="487680"/>
            <a:chOff x="155526" y="2184091"/>
            <a:chExt cx="1403944" cy="487680"/>
          </a:xfrm>
        </p:grpSpPr>
        <p:sp>
          <p:nvSpPr>
            <p:cNvPr id="8" name="矩形 7"/>
            <p:cNvSpPr/>
            <p:nvPr/>
          </p:nvSpPr>
          <p:spPr>
            <a:xfrm>
              <a:off x="155526" y="2184091"/>
              <a:ext cx="869232" cy="4876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l-GR" altLang="zh-CN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Δ</a:t>
              </a:r>
              <a:r>
                <a:rPr lang="en-US" altLang="zh-CN" sz="1600" i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altLang="zh-CN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G° </a:t>
              </a:r>
              <a:r>
                <a:rPr lang="en-US" altLang="zh-CN" sz="16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 </a:t>
              </a:r>
              <a:r>
                <a:rPr lang="en-US" altLang="zh-CN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Table</a:t>
              </a:r>
              <a:endParaRPr lang="zh-CN" alt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9" name="直接箭头连接符 8"/>
            <p:cNvCxnSpPr/>
            <p:nvPr/>
          </p:nvCxnSpPr>
          <p:spPr>
            <a:xfrm>
              <a:off x="987493" y="2427931"/>
              <a:ext cx="571977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68191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7642" y="1337499"/>
            <a:ext cx="7219473" cy="3974094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548639" y="1337499"/>
            <a:ext cx="2160270" cy="487680"/>
            <a:chOff x="155526" y="2184091"/>
            <a:chExt cx="1403944" cy="487680"/>
          </a:xfrm>
        </p:grpSpPr>
        <p:sp>
          <p:nvSpPr>
            <p:cNvPr id="4" name="矩形 3"/>
            <p:cNvSpPr/>
            <p:nvPr/>
          </p:nvSpPr>
          <p:spPr>
            <a:xfrm>
              <a:off x="155526" y="2184091"/>
              <a:ext cx="869232" cy="4876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Metabolite </a:t>
              </a:r>
              <a:r>
                <a:rPr lang="en-US" altLang="zh-CN" sz="16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BiGG ID</a:t>
              </a:r>
              <a:endParaRPr lang="zh-CN" alt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" name="直接箭头连接符 4"/>
            <p:cNvCxnSpPr/>
            <p:nvPr/>
          </p:nvCxnSpPr>
          <p:spPr>
            <a:xfrm>
              <a:off x="987493" y="2427931"/>
              <a:ext cx="571977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组合 8"/>
          <p:cNvGrpSpPr/>
          <p:nvPr/>
        </p:nvGrpSpPr>
        <p:grpSpPr>
          <a:xfrm>
            <a:off x="190501" y="3509199"/>
            <a:ext cx="2518408" cy="487680"/>
            <a:chOff x="-77225" y="2184091"/>
            <a:chExt cx="1636695" cy="487680"/>
          </a:xfrm>
        </p:grpSpPr>
        <p:sp>
          <p:nvSpPr>
            <p:cNvPr id="10" name="矩形 9"/>
            <p:cNvSpPr/>
            <p:nvPr/>
          </p:nvSpPr>
          <p:spPr>
            <a:xfrm>
              <a:off x="-77225" y="2184091"/>
              <a:ext cx="1101984" cy="4876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2D </a:t>
              </a:r>
              <a:r>
                <a:rPr lang="en-US" altLang="zh-CN" sz="16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chemical structure image</a:t>
              </a:r>
              <a:endParaRPr lang="zh-CN" alt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1" name="直接箭头连接符 10"/>
            <p:cNvCxnSpPr/>
            <p:nvPr/>
          </p:nvCxnSpPr>
          <p:spPr>
            <a:xfrm>
              <a:off x="987493" y="2427931"/>
              <a:ext cx="571977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组合 11"/>
          <p:cNvGrpSpPr/>
          <p:nvPr/>
        </p:nvGrpSpPr>
        <p:grpSpPr>
          <a:xfrm>
            <a:off x="9612721" y="2475470"/>
            <a:ext cx="2579279" cy="487680"/>
            <a:chOff x="-994560" y="2511751"/>
            <a:chExt cx="1676256" cy="487680"/>
          </a:xfrm>
        </p:grpSpPr>
        <p:sp>
          <p:nvSpPr>
            <p:cNvPr id="13" name="矩形 12"/>
            <p:cNvSpPr/>
            <p:nvPr/>
          </p:nvSpPr>
          <p:spPr>
            <a:xfrm>
              <a:off x="-625681" y="2511751"/>
              <a:ext cx="1307377" cy="4876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Reactions involving this metabolite</a:t>
              </a:r>
              <a:endParaRPr lang="zh-CN" alt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4" name="直接箭头连接符 13"/>
            <p:cNvCxnSpPr/>
            <p:nvPr/>
          </p:nvCxnSpPr>
          <p:spPr>
            <a:xfrm rot="16200000" flipH="1" flipV="1">
              <a:off x="-777146" y="2538177"/>
              <a:ext cx="1896" cy="436723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50436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/>
          <a:srcRect l="274" t="10063" r="-274" b="280"/>
          <a:stretch/>
        </p:blipFill>
        <p:spPr>
          <a:xfrm>
            <a:off x="2052743" y="1638065"/>
            <a:ext cx="8221980" cy="3595584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419099" y="1726119"/>
            <a:ext cx="1809749" cy="487680"/>
            <a:chOff x="383327" y="2184091"/>
            <a:chExt cx="1176143" cy="487680"/>
          </a:xfrm>
        </p:grpSpPr>
        <p:sp>
          <p:nvSpPr>
            <p:cNvPr id="4" name="矩形 3"/>
            <p:cNvSpPr/>
            <p:nvPr/>
          </p:nvSpPr>
          <p:spPr>
            <a:xfrm>
              <a:off x="383327" y="2184091"/>
              <a:ext cx="641432" cy="4876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Gene ID</a:t>
              </a:r>
              <a:endParaRPr lang="zh-CN" alt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" name="直接箭头连接符 4"/>
            <p:cNvCxnSpPr/>
            <p:nvPr/>
          </p:nvCxnSpPr>
          <p:spPr>
            <a:xfrm>
              <a:off x="987493" y="2427931"/>
              <a:ext cx="571977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组合 6"/>
          <p:cNvGrpSpPr/>
          <p:nvPr/>
        </p:nvGrpSpPr>
        <p:grpSpPr>
          <a:xfrm>
            <a:off x="144779" y="3110696"/>
            <a:ext cx="2167890" cy="487680"/>
            <a:chOff x="383326" y="2184091"/>
            <a:chExt cx="1176144" cy="487680"/>
          </a:xfrm>
        </p:grpSpPr>
        <p:sp>
          <p:nvSpPr>
            <p:cNvPr id="8" name="矩形 7"/>
            <p:cNvSpPr/>
            <p:nvPr/>
          </p:nvSpPr>
          <p:spPr>
            <a:xfrm>
              <a:off x="383326" y="2184091"/>
              <a:ext cx="731729" cy="4876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Reaction BiGG ID</a:t>
              </a:r>
              <a:endParaRPr lang="zh-CN" alt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9" name="直接箭头连接符 8"/>
            <p:cNvCxnSpPr/>
            <p:nvPr/>
          </p:nvCxnSpPr>
          <p:spPr>
            <a:xfrm flipV="1">
              <a:off x="1115056" y="2427931"/>
              <a:ext cx="444414" cy="3621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组合 10"/>
          <p:cNvGrpSpPr/>
          <p:nvPr/>
        </p:nvGrpSpPr>
        <p:grpSpPr>
          <a:xfrm>
            <a:off x="0" y="4417187"/>
            <a:ext cx="2312669" cy="487680"/>
            <a:chOff x="304779" y="2184091"/>
            <a:chExt cx="1254691" cy="487680"/>
          </a:xfrm>
        </p:grpSpPr>
        <p:sp>
          <p:nvSpPr>
            <p:cNvPr id="12" name="矩形 11"/>
            <p:cNvSpPr/>
            <p:nvPr/>
          </p:nvSpPr>
          <p:spPr>
            <a:xfrm>
              <a:off x="304779" y="2184091"/>
              <a:ext cx="810276" cy="4876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GPR </a:t>
              </a:r>
              <a:r>
                <a:rPr lang="en-US" altLang="zh-CN" sz="16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information</a:t>
              </a:r>
              <a:endPara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3" name="直接箭头连接符 12"/>
            <p:cNvCxnSpPr/>
            <p:nvPr/>
          </p:nvCxnSpPr>
          <p:spPr>
            <a:xfrm flipV="1">
              <a:off x="1115056" y="2427931"/>
              <a:ext cx="444414" cy="3621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82898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/>
          <a:srcRect t="864" b="8640"/>
          <a:stretch/>
        </p:blipFill>
        <p:spPr>
          <a:xfrm>
            <a:off x="2400490" y="237692"/>
            <a:ext cx="7362604" cy="6379855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97954" y="1301454"/>
            <a:ext cx="2594021" cy="487680"/>
            <a:chOff x="152137" y="2184091"/>
            <a:chExt cx="1407333" cy="487680"/>
          </a:xfrm>
        </p:grpSpPr>
        <p:sp>
          <p:nvSpPr>
            <p:cNvPr id="4" name="矩形 3"/>
            <p:cNvSpPr/>
            <p:nvPr/>
          </p:nvSpPr>
          <p:spPr>
            <a:xfrm>
              <a:off x="152137" y="2184091"/>
              <a:ext cx="1131111" cy="4876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Select </a:t>
              </a:r>
              <a:r>
                <a:rPr lang="en-US" altLang="zh-CN" sz="16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identifier type</a:t>
              </a:r>
            </a:p>
            <a:p>
              <a:pPr algn="ctr"/>
              <a:r>
                <a:rPr lang="en-US" altLang="zh-CN" sz="16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(e.g. SMILES)</a:t>
              </a:r>
              <a:endPara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" name="直接箭头连接符 4"/>
            <p:cNvCxnSpPr>
              <a:stCxn id="4" idx="3"/>
            </p:cNvCxnSpPr>
            <p:nvPr/>
          </p:nvCxnSpPr>
          <p:spPr>
            <a:xfrm flipV="1">
              <a:off x="1283248" y="2426122"/>
              <a:ext cx="276222" cy="1809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6"/>
          <p:cNvSpPr/>
          <p:nvPr/>
        </p:nvSpPr>
        <p:spPr>
          <a:xfrm>
            <a:off x="9851862" y="62132"/>
            <a:ext cx="2242185" cy="4876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Single equation mode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2" name="肘形连接符 41"/>
          <p:cNvCxnSpPr/>
          <p:nvPr/>
        </p:nvCxnSpPr>
        <p:spPr>
          <a:xfrm rot="10800000" flipV="1">
            <a:off x="7094012" y="182880"/>
            <a:ext cx="2757851" cy="246184"/>
          </a:xfrm>
          <a:prstGeom prst="bentConnector3">
            <a:avLst>
              <a:gd name="adj1" fmla="val 99989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组合 53"/>
          <p:cNvGrpSpPr/>
          <p:nvPr/>
        </p:nvGrpSpPr>
        <p:grpSpPr>
          <a:xfrm>
            <a:off x="-34517" y="2051844"/>
            <a:ext cx="2723676" cy="487680"/>
            <a:chOff x="80268" y="2204771"/>
            <a:chExt cx="1477675" cy="487680"/>
          </a:xfrm>
        </p:grpSpPr>
        <p:sp>
          <p:nvSpPr>
            <p:cNvPr id="55" name="矩形 54"/>
            <p:cNvSpPr/>
            <p:nvPr/>
          </p:nvSpPr>
          <p:spPr>
            <a:xfrm>
              <a:off x="80268" y="2204771"/>
              <a:ext cx="1274850" cy="4876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Input chemical equation</a:t>
              </a:r>
            </a:p>
            <a:p>
              <a:pPr algn="ctr"/>
              <a:r>
                <a:rPr lang="en-US" altLang="zh-CN" sz="16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(e.g. </a:t>
              </a:r>
              <a:r>
                <a:rPr lang="pt-BR" altLang="zh-CN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 [H][H] + O=O = 2 </a:t>
              </a:r>
              <a:r>
                <a:rPr lang="pt-BR" altLang="zh-CN" sz="16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 )</a:t>
              </a:r>
              <a:endPara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6" name="直接箭头连接符 55"/>
            <p:cNvCxnSpPr/>
            <p:nvPr/>
          </p:nvCxnSpPr>
          <p:spPr>
            <a:xfrm flipV="1">
              <a:off x="1281720" y="2422160"/>
              <a:ext cx="276223" cy="5771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组合 56"/>
          <p:cNvGrpSpPr/>
          <p:nvPr/>
        </p:nvGrpSpPr>
        <p:grpSpPr>
          <a:xfrm>
            <a:off x="-34517" y="3242218"/>
            <a:ext cx="2726494" cy="487680"/>
            <a:chOff x="284934" y="2182281"/>
            <a:chExt cx="1295604" cy="487680"/>
          </a:xfrm>
        </p:grpSpPr>
        <p:sp>
          <p:nvSpPr>
            <p:cNvPr id="58" name="矩形 57"/>
            <p:cNvSpPr/>
            <p:nvPr/>
          </p:nvSpPr>
          <p:spPr>
            <a:xfrm>
              <a:off x="284934" y="2182281"/>
              <a:ext cx="1116614" cy="4876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Select </a:t>
              </a:r>
              <a:r>
                <a:rPr lang="en-US" altLang="zh-CN" sz="16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reaction condition</a:t>
              </a:r>
            </a:p>
            <a:p>
              <a:pPr algn="ctr"/>
              <a:r>
                <a:rPr lang="en-US" altLang="zh-CN" sz="16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(e.g. standard condition)</a:t>
              </a:r>
              <a:endPara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9" name="直接箭头连接符 58"/>
            <p:cNvCxnSpPr/>
            <p:nvPr/>
          </p:nvCxnSpPr>
          <p:spPr>
            <a:xfrm>
              <a:off x="1337261" y="2425215"/>
              <a:ext cx="243277" cy="1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组合 59"/>
          <p:cNvGrpSpPr/>
          <p:nvPr/>
        </p:nvGrpSpPr>
        <p:grpSpPr>
          <a:xfrm>
            <a:off x="-34517" y="5113283"/>
            <a:ext cx="2712425" cy="487680"/>
            <a:chOff x="270551" y="2179565"/>
            <a:chExt cx="1288919" cy="487680"/>
          </a:xfrm>
        </p:grpSpPr>
        <p:sp>
          <p:nvSpPr>
            <p:cNvPr id="61" name="矩形 60"/>
            <p:cNvSpPr/>
            <p:nvPr/>
          </p:nvSpPr>
          <p:spPr>
            <a:xfrm>
              <a:off x="270551" y="2179565"/>
              <a:ext cx="1109930" cy="4876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Set custom conditions</a:t>
              </a:r>
              <a:endPara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2" name="直接箭头连接符 61"/>
            <p:cNvCxnSpPr/>
            <p:nvPr/>
          </p:nvCxnSpPr>
          <p:spPr>
            <a:xfrm>
              <a:off x="1316194" y="2426121"/>
              <a:ext cx="243276" cy="1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组合 62"/>
          <p:cNvGrpSpPr/>
          <p:nvPr/>
        </p:nvGrpSpPr>
        <p:grpSpPr>
          <a:xfrm>
            <a:off x="6959896" y="5946478"/>
            <a:ext cx="5200357" cy="487680"/>
            <a:chOff x="-1338645" y="2511751"/>
            <a:chExt cx="2405129" cy="487680"/>
          </a:xfrm>
        </p:grpSpPr>
        <p:sp>
          <p:nvSpPr>
            <p:cNvPr id="64" name="矩形 63"/>
            <p:cNvSpPr/>
            <p:nvPr/>
          </p:nvSpPr>
          <p:spPr>
            <a:xfrm>
              <a:off x="-105461" y="2511751"/>
              <a:ext cx="1171945" cy="4876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n-US" altLang="zh-CN" sz="16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alculate button</a:t>
              </a:r>
              <a:endParaRPr lang="zh-CN" alt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5" name="直接箭头连接符 64"/>
            <p:cNvCxnSpPr/>
            <p:nvPr/>
          </p:nvCxnSpPr>
          <p:spPr>
            <a:xfrm flipH="1">
              <a:off x="-1338645" y="2755591"/>
              <a:ext cx="1395583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组合 69"/>
          <p:cNvGrpSpPr/>
          <p:nvPr/>
        </p:nvGrpSpPr>
        <p:grpSpPr>
          <a:xfrm>
            <a:off x="5821573" y="1691782"/>
            <a:ext cx="6272475" cy="487680"/>
            <a:chOff x="-1338645" y="2511751"/>
            <a:chExt cx="2900976" cy="487680"/>
          </a:xfrm>
        </p:grpSpPr>
        <p:sp>
          <p:nvSpPr>
            <p:cNvPr id="71" name="矩形 70"/>
            <p:cNvSpPr/>
            <p:nvPr/>
          </p:nvSpPr>
          <p:spPr>
            <a:xfrm>
              <a:off x="390386" y="2511751"/>
              <a:ext cx="1171945" cy="4876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Load examples</a:t>
              </a:r>
              <a:endParaRPr lang="zh-CN" alt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2" name="直接箭头连接符 71"/>
            <p:cNvCxnSpPr/>
            <p:nvPr/>
          </p:nvCxnSpPr>
          <p:spPr>
            <a:xfrm flipH="1">
              <a:off x="-1338645" y="2755591"/>
              <a:ext cx="1936732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99935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6921" y="1140600"/>
            <a:ext cx="4058158" cy="4576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816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/>
          <a:srcRect l="1576"/>
          <a:stretch/>
        </p:blipFill>
        <p:spPr>
          <a:xfrm>
            <a:off x="2302193" y="859536"/>
            <a:ext cx="7335583" cy="5045802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0" y="1906365"/>
            <a:ext cx="2594021" cy="487680"/>
            <a:chOff x="152137" y="2184091"/>
            <a:chExt cx="1407333" cy="487680"/>
          </a:xfrm>
        </p:grpSpPr>
        <p:sp>
          <p:nvSpPr>
            <p:cNvPr id="9" name="矩形 8"/>
            <p:cNvSpPr/>
            <p:nvPr/>
          </p:nvSpPr>
          <p:spPr>
            <a:xfrm>
              <a:off x="152137" y="2184091"/>
              <a:ext cx="1131111" cy="4876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Select </a:t>
              </a:r>
              <a:r>
                <a:rPr lang="en-US" altLang="zh-CN" sz="16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identifier type</a:t>
              </a:r>
            </a:p>
            <a:p>
              <a:pPr algn="ctr"/>
              <a:r>
                <a:rPr lang="en-US" altLang="zh-CN" sz="16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(e.g. KEGG)</a:t>
              </a:r>
              <a:endPara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0" name="直接箭头连接符 9"/>
            <p:cNvCxnSpPr>
              <a:stCxn id="9" idx="3"/>
            </p:cNvCxnSpPr>
            <p:nvPr/>
          </p:nvCxnSpPr>
          <p:spPr>
            <a:xfrm flipV="1">
              <a:off x="1283248" y="2426122"/>
              <a:ext cx="276222" cy="1809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组合 10"/>
          <p:cNvGrpSpPr/>
          <p:nvPr/>
        </p:nvGrpSpPr>
        <p:grpSpPr>
          <a:xfrm>
            <a:off x="-111890" y="2941320"/>
            <a:ext cx="2723676" cy="487680"/>
            <a:chOff x="80268" y="2204771"/>
            <a:chExt cx="1477675" cy="487680"/>
          </a:xfrm>
        </p:grpSpPr>
        <p:sp>
          <p:nvSpPr>
            <p:cNvPr id="12" name="矩形 11"/>
            <p:cNvSpPr/>
            <p:nvPr/>
          </p:nvSpPr>
          <p:spPr>
            <a:xfrm>
              <a:off x="80268" y="2204771"/>
              <a:ext cx="1274850" cy="4876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Input equations</a:t>
              </a:r>
            </a:p>
          </p:txBody>
        </p:sp>
        <p:cxnSp>
          <p:nvCxnSpPr>
            <p:cNvPr id="13" name="直接箭头连接符 12"/>
            <p:cNvCxnSpPr/>
            <p:nvPr/>
          </p:nvCxnSpPr>
          <p:spPr>
            <a:xfrm flipV="1">
              <a:off x="1281720" y="2422160"/>
              <a:ext cx="276223" cy="5771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合 13"/>
          <p:cNvGrpSpPr/>
          <p:nvPr/>
        </p:nvGrpSpPr>
        <p:grpSpPr>
          <a:xfrm>
            <a:off x="9312813" y="983709"/>
            <a:ext cx="2792435" cy="487680"/>
            <a:chOff x="-432655" y="2511751"/>
            <a:chExt cx="1291482" cy="487680"/>
          </a:xfrm>
        </p:grpSpPr>
        <p:sp>
          <p:nvSpPr>
            <p:cNvPr id="15" name="矩形 14"/>
            <p:cNvSpPr/>
            <p:nvPr/>
          </p:nvSpPr>
          <p:spPr>
            <a:xfrm>
              <a:off x="-165901" y="2511751"/>
              <a:ext cx="1024728" cy="4876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Batch equations mode</a:t>
              </a:r>
              <a:endParaRPr lang="zh-CN" alt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6" name="直接箭头连接符 15"/>
            <p:cNvCxnSpPr>
              <a:stCxn id="15" idx="1"/>
            </p:cNvCxnSpPr>
            <p:nvPr/>
          </p:nvCxnSpPr>
          <p:spPr>
            <a:xfrm flipH="1">
              <a:off x="-432655" y="2755591"/>
              <a:ext cx="266754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组合 22"/>
          <p:cNvGrpSpPr/>
          <p:nvPr/>
        </p:nvGrpSpPr>
        <p:grpSpPr>
          <a:xfrm>
            <a:off x="5554287" y="2310760"/>
            <a:ext cx="6452490" cy="487680"/>
            <a:chOff x="-1338645" y="2511751"/>
            <a:chExt cx="2984232" cy="487680"/>
          </a:xfrm>
        </p:grpSpPr>
        <p:sp>
          <p:nvSpPr>
            <p:cNvPr id="24" name="矩形 23"/>
            <p:cNvSpPr/>
            <p:nvPr/>
          </p:nvSpPr>
          <p:spPr>
            <a:xfrm>
              <a:off x="637382" y="2511751"/>
              <a:ext cx="1008205" cy="4876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Load  an example</a:t>
              </a:r>
              <a:endParaRPr lang="zh-CN" alt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5" name="直接箭头连接符 24"/>
            <p:cNvCxnSpPr/>
            <p:nvPr/>
          </p:nvCxnSpPr>
          <p:spPr>
            <a:xfrm flipH="1">
              <a:off x="-1338645" y="2755591"/>
              <a:ext cx="2057096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组合 28"/>
          <p:cNvGrpSpPr/>
          <p:nvPr/>
        </p:nvGrpSpPr>
        <p:grpSpPr>
          <a:xfrm>
            <a:off x="-97773" y="4472576"/>
            <a:ext cx="2712425" cy="487680"/>
            <a:chOff x="270551" y="2179565"/>
            <a:chExt cx="1288919" cy="487680"/>
          </a:xfrm>
        </p:grpSpPr>
        <p:sp>
          <p:nvSpPr>
            <p:cNvPr id="30" name="矩形 29"/>
            <p:cNvSpPr/>
            <p:nvPr/>
          </p:nvSpPr>
          <p:spPr>
            <a:xfrm>
              <a:off x="270551" y="2179565"/>
              <a:ext cx="1109930" cy="4876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Set conditions for all equations</a:t>
              </a:r>
              <a:endPara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1" name="直接箭头连接符 30"/>
            <p:cNvCxnSpPr/>
            <p:nvPr/>
          </p:nvCxnSpPr>
          <p:spPr>
            <a:xfrm>
              <a:off x="1316194" y="2426121"/>
              <a:ext cx="243276" cy="1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/>
          <p:cNvGrpSpPr/>
          <p:nvPr/>
        </p:nvGrpSpPr>
        <p:grpSpPr>
          <a:xfrm>
            <a:off x="6904891" y="5272532"/>
            <a:ext cx="5200357" cy="487680"/>
            <a:chOff x="-1338645" y="2511751"/>
            <a:chExt cx="2405129" cy="487680"/>
          </a:xfrm>
        </p:grpSpPr>
        <p:sp>
          <p:nvSpPr>
            <p:cNvPr id="33" name="矩形 32"/>
            <p:cNvSpPr/>
            <p:nvPr/>
          </p:nvSpPr>
          <p:spPr>
            <a:xfrm>
              <a:off x="-105461" y="2511751"/>
              <a:ext cx="1171945" cy="4876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n-US" altLang="zh-CN" sz="16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alculate button</a:t>
              </a:r>
              <a:endParaRPr lang="zh-CN" alt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4" name="直接箭头连接符 33"/>
            <p:cNvCxnSpPr/>
            <p:nvPr/>
          </p:nvCxnSpPr>
          <p:spPr>
            <a:xfrm flipH="1">
              <a:off x="-1338645" y="2755591"/>
              <a:ext cx="1395583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37461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4554" y="1552378"/>
            <a:ext cx="7007259" cy="468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573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1512</TotalTime>
  <Words>150</Words>
  <Application>Microsoft Office PowerPoint</Application>
  <PresentationFormat>宽屏</PresentationFormat>
  <Paragraphs>38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5" baseType="lpstr">
      <vt:lpstr>微软雅黑</vt:lpstr>
      <vt:lpstr>Arial</vt:lpstr>
      <vt:lpstr>Calibri</vt:lpstr>
      <vt:lpstr>WPS</vt:lpstr>
      <vt:lpstr>help.html  figure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MSI</dc:creator>
  <cp:lastModifiedBy>MSI</cp:lastModifiedBy>
  <cp:revision>49</cp:revision>
  <dcterms:created xsi:type="dcterms:W3CDTF">2023-08-09T12:44:00Z</dcterms:created>
  <dcterms:modified xsi:type="dcterms:W3CDTF">2025-12-18T09:32:56Z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